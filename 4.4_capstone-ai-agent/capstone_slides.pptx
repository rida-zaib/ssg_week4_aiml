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843016" y="539496"/>
            <a:ext cx="1280160" cy="36576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23176" y="539496"/>
            <a:ext cx="1097280" cy="64008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43016" y="905256"/>
            <a:ext cx="822960" cy="100584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665976" y="539496"/>
            <a:ext cx="457200" cy="137160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946136" y="1179576"/>
            <a:ext cx="274320" cy="128016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76" y="1911096"/>
            <a:ext cx="1280160" cy="54864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6117336" y="1911096"/>
            <a:ext cx="548640" cy="118872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7397496" y="2459736"/>
            <a:ext cx="548640" cy="118872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17336" y="3099816"/>
            <a:ext cx="1280160" cy="548640"/>
          </a:xfrm>
          <a:prstGeom prst="line">
            <a:avLst/>
          </a:prstGeom>
          <a:noFill/>
          <a:ln w="15240">
            <a:solidFill>
              <a:srgbClr val="2E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822960"/>
            <a:ext cx="164592" cy="164592"/>
          </a:xfrm>
          <a:prstGeom prst="ellipse">
            <a:avLst/>
          </a:prstGeom>
          <a:solidFill>
            <a:srgbClr val="4B5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457200"/>
            <a:ext cx="164592" cy="164592"/>
          </a:xfrm>
          <a:prstGeom prst="ellipse">
            <a:avLst/>
          </a:prstGeom>
          <a:solidFill>
            <a:srgbClr val="4B5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097280"/>
            <a:ext cx="164592" cy="164592"/>
          </a:xfrm>
          <a:prstGeom prst="ellipse">
            <a:avLst/>
          </a:prstGeom>
          <a:solidFill>
            <a:srgbClr val="4B5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828800"/>
            <a:ext cx="237744" cy="23774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377440"/>
            <a:ext cx="164592" cy="164592"/>
          </a:xfrm>
          <a:prstGeom prst="ellipse">
            <a:avLst/>
          </a:prstGeom>
          <a:solidFill>
            <a:srgbClr val="4B5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3017520"/>
            <a:ext cx="164592" cy="164592"/>
          </a:xfrm>
          <a:prstGeom prst="ellipse">
            <a:avLst/>
          </a:prstGeom>
          <a:solidFill>
            <a:srgbClr val="4B5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566160"/>
            <a:ext cx="164592" cy="164592"/>
          </a:xfrm>
          <a:prstGeom prst="ellipse">
            <a:avLst/>
          </a:prstGeom>
          <a:solidFill>
            <a:srgbClr val="4B55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1645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System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·  17 tools  ·  2-model fallback  ·  Streamlit chat UI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—  AI/ML Track  —  Week 4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214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2344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232B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+ 17 tools bound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12344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5875">
            <a:solidFill>
              <a:srgbClr val="23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Node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chosen tool(s)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0240" y="1783080"/>
            <a:ext cx="822960" cy="0"/>
          </a:xfrm>
          <a:prstGeom prst="line">
            <a:avLst/>
          </a:prstGeom>
          <a:noFill/>
          <a:ln w="25400">
            <a:solidFill>
              <a:srgbClr val="0F8C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1554480"/>
            <a:ext cx="822960" cy="0"/>
          </a:xfrm>
          <a:prstGeom prst="line">
            <a:avLst/>
          </a:prstGeom>
          <a:noFill/>
          <a:ln w="25400">
            <a:solidFill>
              <a:srgbClr val="0F8C79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846320" y="1298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8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call(s)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flipH="1">
            <a:off x="4846320" y="201168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846320" y="2048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2331720"/>
            <a:ext cx="0" cy="457200"/>
          </a:xfrm>
          <a:prstGeom prst="line">
            <a:avLst/>
          </a:prstGeom>
          <a:noFill/>
          <a:ln w="25400">
            <a:solidFill>
              <a:srgbClr val="0F8C7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88620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8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2788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FE0C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0896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331720"/>
            <a:ext cx="0" cy="1069848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9928" y="3401568"/>
            <a:ext cx="6729984" cy="0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4520" y="3401568"/>
            <a:ext cx="0" cy="210312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36118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/ RAG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950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tools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3401568"/>
            <a:ext cx="0" cy="210312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200400" y="36118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00400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 &amp; math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200400" y="3950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3401568"/>
            <a:ext cx="0" cy="210312"/>
          </a:xfrm>
          <a:prstGeom prst="line">
            <a:avLst/>
          </a:prstGeom>
          <a:noFill/>
          <a:ln w="19050">
            <a:solidFill>
              <a:srgbClr val="C9D3E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852160" y="36118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52160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general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852160" y="3950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independent tools can be called in one turn — e.g. a unit conversion and a currency conversion together.</a:t>
            </a:r>
            <a:endParaRPr lang="en-US" sz="1100" dirty="0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Tools, 3 Categories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F8C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search_knowledge_base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count_remaining_tasks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32B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918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MONEY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calculator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percentage_calculator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865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unit_converter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42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currency_convert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28986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stats_calculator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154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symbolic_math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4107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finance_calculator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6667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health_calculator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922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date_calculator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1788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number_base_convert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128016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0" y="1280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3D4A6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GENERAL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get_current_datetime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weather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23865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wikipedia_summary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642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web_search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28986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text_tools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routes each question type to its matching tool by name.</a:t>
            </a:r>
            <a:endParaRPr lang="en-US" sz="1150" dirty="0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Reliability: Model Fallback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17320" y="16459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232B45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783080"/>
            <a:ext cx="365760" cy="365760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91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openai/gpt-oss-120b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4231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strongest reasoning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548640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6459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5875">
            <a:solidFill>
              <a:srgbClr val="0F8C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783080"/>
            <a:ext cx="365760" cy="365760"/>
          </a:xfrm>
          <a:prstGeom prst="ellipse">
            <a:avLst/>
          </a:prstGeom>
          <a:solidFill>
            <a:srgbClr val="232B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openai/gpt-oss-20b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4231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lighter and faster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model call fails or times out, the app automatically retries with the next model in line — a single provider hiccup never breaks the conversation.</a:t>
            </a:r>
            <a:endParaRPr lang="en-US" sz="1250" dirty="0"/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App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214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selector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Creativity slider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agent steps toggle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026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 example prompts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history + New chat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2834640"/>
            <a:ext cx="274320" cy="0"/>
          </a:xfrm>
          <a:prstGeom prst="line">
            <a:avLst/>
          </a:prstGeom>
          <a:noFill/>
          <a:ln w="25400">
            <a:solidFill>
              <a:srgbClr val="0F8C7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137160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862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WINDOW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6200" y="19202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776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5 marla to sqft and 100 USD to PKR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251460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8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🔧 unit_converter(5, marla, sqft)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8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🔧 currency_convert(100, USD, PKR)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results under agent steps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marla = 1,362.5 sqft. 100 USD = ~27,800 PKR (live rate).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"Show agent steps" to see each tool call and result, so the reasoning stays visible.</a:t>
            </a:r>
            <a:endParaRPr lang="en-US" sz="1150" dirty="0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508760"/>
            <a:ext cx="384048" cy="384048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guessed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011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ties internship answers to actual FAQ content.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not approximate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011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domain gets its own exact tool, not LLM guesswork.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108960"/>
            <a:ext cx="384048" cy="384048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fallback survives a single provider failure.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3108960"/>
            <a:ext cx="384048" cy="384048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92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steps can be shown on demand — no black box.</a:t>
            </a:r>
            <a:endParaRPr lang="en-US" sz="1150" dirty="0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C9D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0F8C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232B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307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389888"/>
            <a:ext cx="1051560" cy="283464"/>
          </a:xfrm>
          <a:prstGeom prst="roundRect">
            <a:avLst>
              <a:gd name="adj" fmla="val 25806"/>
            </a:avLst>
          </a:prstGeom>
          <a:solidFill>
            <a:srgbClr val="3FE0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0" y="13898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2E3A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web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075688"/>
            <a:ext cx="1051560" cy="283464"/>
          </a:xfrm>
          <a:prstGeom prst="roundRect">
            <a:avLst>
              <a:gd name="adj" fmla="val 25806"/>
            </a:avLst>
          </a:prstGeom>
          <a:solidFill>
            <a:srgbClr val="3FE0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20756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3B4A7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2679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sentence-transformers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store, local embeddings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2761488"/>
            <a:ext cx="1051560" cy="283464"/>
          </a:xfrm>
          <a:prstGeom prst="roundRect">
            <a:avLst>
              <a:gd name="adj" fmla="val 25806"/>
            </a:avLst>
          </a:prstGeom>
          <a:solidFill>
            <a:srgbClr val="3FE0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0" y="27614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4A5B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2-model fallback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free tier, no card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447288"/>
            <a:ext cx="1051560" cy="283464"/>
          </a:xfrm>
          <a:prstGeom prst="roundRect">
            <a:avLst>
              <a:gd name="adj" fmla="val 25806"/>
            </a:avLst>
          </a:prstGeom>
          <a:solidFill>
            <a:srgbClr val="3FE0C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0" y="34472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5C6E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4050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wttr.in, Wikipedia, DDGS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search, currency, facts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0" y="4133088"/>
            <a:ext cx="1051560" cy="283464"/>
          </a:xfrm>
          <a:prstGeom prst="roundRect">
            <a:avLst>
              <a:gd name="adj" fmla="val 25806"/>
            </a:avLst>
          </a:prstGeom>
          <a:solidFill>
            <a:srgbClr val="3FE0C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0" y="4133088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64424" y="574243"/>
            <a:ext cx="438912" cy="292608"/>
          </a:xfrm>
          <a:prstGeom prst="line">
            <a:avLst/>
          </a:prstGeom>
          <a:noFill/>
          <a:ln w="16510">
            <a:solidFill>
              <a:srgbClr val="3A3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64424" y="866851"/>
            <a:ext cx="438912" cy="175565"/>
          </a:xfrm>
          <a:prstGeom prst="line">
            <a:avLst/>
          </a:prstGeom>
          <a:noFill/>
          <a:ln w="16510">
            <a:solidFill>
              <a:srgbClr val="3A3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779069"/>
            <a:ext cx="190195" cy="190195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5" name="Shape 3"/>
          <p:cNvSpPr/>
          <p:nvPr/>
        </p:nvSpPr>
        <p:spPr>
          <a:xfrm>
            <a:off x="8374075" y="457200"/>
            <a:ext cx="146304" cy="14630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6" name="Shape 4"/>
          <p:cNvSpPr/>
          <p:nvPr/>
        </p:nvSpPr>
        <p:spPr>
          <a:xfrm>
            <a:off x="8374075" y="983894"/>
            <a:ext cx="146304" cy="146304"/>
          </a:xfrm>
          <a:prstGeom prst="ellipse">
            <a:avLst/>
          </a:prstGeom>
          <a:solidFill>
            <a:srgbClr val="3FE0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840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Repo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GO EDUTECH  ·  AI/ML CAPSTONE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4721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recorded Streamlit walkthrough link here]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579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 ·  app.py  ·  README.md  ·  knowledge_base/  ·  requirements.txt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8437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capstone_report.pdf — architecture, tools, fallback, UI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D2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5935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pip install -r requirements.txt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86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echo GROQ_API_KEY=your-free-key &gt; .env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178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streamlit run app.py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2026-09-30T02:33:00Z</dcterms:created>
  <dcterms:modified xsi:type="dcterms:W3CDTF">2026-09-30T02:33:00Z</dcterms:modified>
</cp:coreProperties>
</file>